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3" r:id="rId10"/>
    <p:sldId id="274" r:id="rId11"/>
    <p:sldId id="265" r:id="rId12"/>
    <p:sldId id="266" r:id="rId13"/>
    <p:sldId id="275" r:id="rId14"/>
    <p:sldId id="267" r:id="rId15"/>
    <p:sldId id="268" r:id="rId16"/>
    <p:sldId id="269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8160-5F0B-1BAF-EED9-D5D5895A0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04D9D-4E8D-0ED0-A1CA-B0CCBC474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77140-8667-C31E-0E2B-02E27C88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D499-B893-BA72-F617-66A219C6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74219-70E5-9CB0-882E-271F04FF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4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BB50-1982-F208-ECCF-14C4FFD6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599E5-7D5B-8D3F-3185-BDB03C96C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13570-707A-5A71-0F02-FE84A955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96B54-DFB0-F521-8510-B9D95335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C1C11-C301-19A7-A882-B171EF1E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74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5FAB-9ECC-5E2E-3685-D6E7E486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9C31-C29A-A7F4-8F90-EE1AA6501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B76FD-BBD6-6511-153E-210BA1C4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1EEE0-B002-884D-B80C-FA896B18C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531FB-100C-FB7C-56BE-2433959D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4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D63-4681-04D9-499B-0C0F7FCD8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D808B-1961-B536-4CA1-CAD91CFA1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F687C-58EE-7113-643E-0B123CAE4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E7B2-4DC3-432E-C265-2232E171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3EBA2-C899-BD76-99CA-12B76E1C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30A41-6D5E-20D5-D3D7-C2A1F201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24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DD5D-8C21-C6FB-2F02-EB855168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41FE2-16BB-5A5E-DB2E-334016ABC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792-5A81-D5AC-06CC-E9C192D46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DEB08-9801-D4D7-C7A9-5BA234F0F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42614-0403-2A5E-FA08-038E999D1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2A744-D814-CC74-3A1E-A2D70915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98FA0-BEE1-CD8B-027F-EC1FC388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AB182-09E2-7FBA-74C6-0E4EFD8F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20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D2B8-2C00-C575-7E5B-D85929B3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F6ECA-3039-FEAF-1D1F-FE4155B4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0A9B9-2351-91A0-44BF-3107A4C0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518AF-8A1F-2E78-80F4-9806EA1A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2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3B731-2BB3-BD43-69AA-C7CB6E5F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0200B-BD34-FD4D-E872-7358502D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A8891-8FD0-96F7-90BC-F6E8C1FD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21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FB39-D4BA-9706-727D-0E4AC82C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DF201-448B-6640-3EE5-476FB0A0B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98A35-6849-4C45-2491-E308553A5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D25A3-5D32-6754-2DCD-4C3E7FA1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BCC7E-39DC-C280-1E52-65107206F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027A8-3536-66EE-7D29-65F52EBA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61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407F-0F8C-CB6C-DE8F-CD1E7AC8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203DB-D67A-BA5C-04A0-2DCC7AADB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520D9-8780-F64B-FB0B-293BC318C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35CAB-0F94-F632-07A8-ED1C6308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CC7AA-DA5B-F117-5E77-FF6737133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2771E-C316-6050-D8C8-05FA0FAC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6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60B2-0C9D-8B3D-4B9A-26799645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27664-DF4B-F022-F4B3-C0ADC55AC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2EA4A-3F64-C353-F0C7-5DC16075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1F02A-A300-4233-BABF-9823CCC8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67839-4264-586F-A6F8-489AF2C2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21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AEE84-75B1-1092-FA31-096C693E6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C1F81-55FC-1330-2989-16AD3E1B8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FECC2-909B-DD93-D5D7-0296799A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1DA06-0BC5-883E-9430-F600B9B2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1495-0787-E550-BB70-E1B56CF0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65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4B568D-6928-2F8E-27FC-A271C8BA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1CE5F-0AE8-852A-C97B-E58E058B5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9A83C-44BC-A183-E357-9FFEEAEFF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4A1AF-38CD-4BD7-B525-6D2DDF711F9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C381-9E1C-D74B-B7E1-EE542DD1F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8969-A85A-EA72-B4B5-9ED57A7B7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68A06-9925-44C8-8489-EB9ABCD0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62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rankrtech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06FF3-FCEE-384C-CC73-42B3F9031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58675-71DC-0014-D21B-7BCF0A817B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13258-82EF-3AF0-2AE0-7F4A77A5FE09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632C752C-8D9F-15BF-FDC8-5181246F6814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2FC41D06-DEC5-718A-9302-64AB4DFFC1AF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18B821E8-0358-316D-5997-65E29202EAC4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FA5251D0-FA69-6F8E-3872-198770E6F767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B5E08B-5504-2123-AF27-63C1063DF965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322F079B-7D4F-BA4C-6459-8D3074B78D0E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F82344-CFB1-7515-60BB-D651D4B29971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D5F4D4-BA63-18E9-47E9-893A0CF5DEA5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8">
            <a:extLst>
              <a:ext uri="{FF2B5EF4-FFF2-40B4-BE49-F238E27FC236}">
                <a16:creationId xmlns:a16="http://schemas.microsoft.com/office/drawing/2014/main" id="{AD7C8C31-DD0B-3F4E-8D2A-48AB73778561}"/>
              </a:ext>
            </a:extLst>
          </p:cNvPr>
          <p:cNvSpPr txBox="1"/>
          <p:nvPr/>
        </p:nvSpPr>
        <p:spPr>
          <a:xfrm>
            <a:off x="240893" y="1496663"/>
            <a:ext cx="1195110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 Customer Segmentation Using Clustering Techniques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Subtitle: 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K‑Means Clustering with Python on Kaggle Customer  Data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03C5E5BB-3DDF-576A-7201-ED0553CB73EA}"/>
              </a:ext>
            </a:extLst>
          </p:cNvPr>
          <p:cNvSpPr txBox="1"/>
          <p:nvPr/>
        </p:nvSpPr>
        <p:spPr>
          <a:xfrm>
            <a:off x="688259" y="4419292"/>
            <a:ext cx="63418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Karan kumar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INTERN INFOBYTE.IN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27/03/2026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Gmail: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karankrtech@gmail.com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318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92614-0C8B-E4E9-3078-35BB4FEA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7975-ED7A-6D7A-883A-F7C6905DFA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80F02-A155-2194-3ED8-60F917850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19CDA-9AEA-E978-BF5F-DD135A7C9276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2166147B-0D59-5873-349E-6A6DAAB2BFF0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349C6AC2-E618-8C1C-DB31-61880436D4DA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690E2912-1684-CF80-BC6D-7E604554B7AC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58AE39DE-5323-8FB5-CF35-9850230C760B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16A453-AEC7-6530-3467-07AA656298CE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AC3009F8-2164-A4B7-7A6A-136FEBCFE826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B26131-C266-256D-C9C1-50376FD96D93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11DB13-48E0-2C6B-2E6E-5ECF50DAADB7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0D7447-678F-BB9A-11FB-B728407D3163}"/>
              </a:ext>
            </a:extLst>
          </p:cNvPr>
          <p:cNvSpPr txBox="1"/>
          <p:nvPr/>
        </p:nvSpPr>
        <p:spPr>
          <a:xfrm>
            <a:off x="973394" y="1533832"/>
            <a:ext cx="32446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2: Agenda</a:t>
            </a:r>
          </a:p>
          <a:p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664121-82F3-5567-C5C9-78D5977BE9D7}"/>
              </a:ext>
            </a:extLst>
          </p:cNvPr>
          <p:cNvSpPr txBox="1"/>
          <p:nvPr/>
        </p:nvSpPr>
        <p:spPr>
          <a:xfrm>
            <a:off x="973391" y="2316163"/>
            <a:ext cx="93406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Determining Optimal Clusters (Elbow &amp; Silhouette)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K‑Means Clustering Results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Analysis &amp; Interpretation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&amp; Recommendations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65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1F9C-C253-7A5D-783C-EDF160B3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BEAD-0428-815D-DFBB-0D86238939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66802-179F-5DCD-D61E-F229D4D9C7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D267F7-D278-2AB4-C73D-63D0B35B2DA6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73EAEC98-229F-A40E-96D8-316DBEB2D3B4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FF1EB7B2-2149-1FFB-24AD-C7279631BB1F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A311ED25-E0FC-07FE-508B-790C9D75781E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0586EF6-FF36-1F79-3DE4-73AA27B79D3D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0BFCCE-AD8E-4129-EB89-812EEC9E4278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5CFADF01-6ED6-2191-EA6A-5E2DF33D2307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AB5AFB-7FBC-032A-284E-C66D20801D09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D9E854-D522-55D1-B1D4-3F434FFE339C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40C5C6-F5C8-BD4E-9E65-99A6B4E26429}"/>
              </a:ext>
            </a:extLst>
          </p:cNvPr>
          <p:cNvSpPr txBox="1"/>
          <p:nvPr/>
        </p:nvSpPr>
        <p:spPr>
          <a:xfrm>
            <a:off x="604686" y="1861724"/>
            <a:ext cx="60320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 3.Project Objective</a:t>
            </a:r>
          </a:p>
          <a:p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EA68EB-620A-D43A-D8A2-82CF29360178}"/>
              </a:ext>
            </a:extLst>
          </p:cNvPr>
          <p:cNvSpPr txBox="1"/>
          <p:nvPr/>
        </p:nvSpPr>
        <p:spPr>
          <a:xfrm>
            <a:off x="747252" y="2810977"/>
            <a:ext cx="106802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based on their purchasing behavior using unsupervised machine learning.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distinct customer groups to enable targeted marketing strategies.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retention and optimize marketing spend.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29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7026-FDC4-470B-42BA-6387DC5A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CB64-1C0A-B4D1-2DAE-C21A328C9B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FE2D2-7A05-CA0D-F646-C50F207A9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B817D-D0FF-92AC-8B48-C6F856E99C9A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EC9D7644-90D5-783D-AD24-37A480C5CD7C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020E6AB3-0244-3A83-67F2-33CD50CEB856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CF22A32D-CFFF-D4B2-8912-78759E8C762E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4D89A06B-E8EA-E8FF-9BDF-73A482471FA6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CA11A7-522B-320D-E7C2-F578AC19E7C6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D042D0-6ACC-7C56-1EC2-0DB4C93A99FF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8AF8A1-D3ED-212E-87F4-D6EF90C87A3A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2CE52D-DC8A-568D-C956-F05B05928DC5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2B55DFB-8B54-4AC0-DE5A-19AA1C76A63D}"/>
              </a:ext>
            </a:extLst>
          </p:cNvPr>
          <p:cNvSpPr txBox="1"/>
          <p:nvPr/>
        </p:nvSpPr>
        <p:spPr>
          <a:xfrm>
            <a:off x="589935" y="1445342"/>
            <a:ext cx="4689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4: Dataset Overview</a:t>
            </a:r>
          </a:p>
          <a:p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8BB7B1-FF34-3E3F-07ED-19DD4B72D7EA}"/>
              </a:ext>
            </a:extLst>
          </p:cNvPr>
          <p:cNvSpPr txBox="1"/>
          <p:nvPr/>
        </p:nvSpPr>
        <p:spPr>
          <a:xfrm>
            <a:off x="589935" y="1967368"/>
            <a:ext cx="71480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Kaggle – Mall Customers Dataset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200 customer records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ID (unique identifier)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Income (k$)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Spending Score (1‑100) – based on purchase behaviour</a:t>
            </a:r>
          </a:p>
          <a:p>
            <a:pPr lvl="2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09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6B92-C763-507B-05BC-20FC83BE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620E-8D05-C6C7-F3B4-ED8F30D15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3FA1E-9A59-4953-A837-8E61E86C07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76DFF-3FD2-D214-FD66-6AB6A4515418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F1DF4FE2-23C3-60CB-9916-AD761A3643C2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E74079BB-6432-4ACC-1B1F-C56E0474AE26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DB806320-85C4-8DCB-1A4E-C21FF321FD7F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61B554B8-3A7E-BF41-CE79-F31244BFCC09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97409A-0B08-3795-7D32-E1E45F907F1B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E31542EB-E102-0826-3DBA-CFDB438C95F5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2D323B-3F79-241D-69A6-871C3CD023A1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306BAB-9296-0970-5D29-9C15D36CE753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5B23F4-82D2-09B8-4D98-CAE87CF58123}"/>
              </a:ext>
            </a:extLst>
          </p:cNvPr>
          <p:cNvSpPr txBox="1"/>
          <p:nvPr/>
        </p:nvSpPr>
        <p:spPr>
          <a:xfrm>
            <a:off x="707923" y="1474839"/>
            <a:ext cx="68825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5: Tools &amp; Libraries Used</a:t>
            </a:r>
          </a:p>
          <a:p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91EF1-AFE0-EBC5-25D7-2C5253521950}"/>
              </a:ext>
            </a:extLst>
          </p:cNvPr>
          <p:cNvSpPr txBox="1"/>
          <p:nvPr/>
        </p:nvSpPr>
        <p:spPr>
          <a:xfrm>
            <a:off x="973393" y="2310581"/>
            <a:ext cx="71677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Jupyter Notebook environment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data manipulation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data visualization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scaling, K‑Means, silhouette score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14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1714F-7CEF-C367-4AC4-A3B2A112E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2AB3-A7DF-3E1E-6670-11FBDAD69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75E8B-A6CA-EEAE-5152-F930784811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496F68-FBFE-9E22-C4AA-634277863502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E874BDF2-5C24-35F7-B898-6D33EE61EA51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20282647-1061-7212-84A6-9F3551BC5B7F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30B594F6-F6DB-763D-33F2-69D0AB5113E6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01DC688-B72A-4E4C-753C-BD9C34D53332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FD16C6-06A9-CA6E-5857-B389BBF5C7D6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6E91B272-86D9-E39D-06AB-F388DDD410D3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F10B21-36D4-8BC5-CD0E-2DF2D32115ED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81556E-9BE0-879E-66F0-F44294362F53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25879D-639A-CA6F-84F1-ED2F297A4705}"/>
              </a:ext>
            </a:extLst>
          </p:cNvPr>
          <p:cNvSpPr txBox="1"/>
          <p:nvPr/>
        </p:nvSpPr>
        <p:spPr>
          <a:xfrm>
            <a:off x="417870" y="1435510"/>
            <a:ext cx="8942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6: Exploratory Data Analysis (EDA)</a:t>
            </a:r>
          </a:p>
          <a:p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DF327D-7030-FC05-E4A9-B667277292A8}"/>
              </a:ext>
            </a:extLst>
          </p:cNvPr>
          <p:cNvSpPr txBox="1"/>
          <p:nvPr/>
        </p:nvSpPr>
        <p:spPr>
          <a:xfrm>
            <a:off x="240892" y="2144670"/>
            <a:ext cx="52750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Visualizing distributions to understand data patterns.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Annual Income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from your cell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['Annual Income (k$)'], bins=20,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=True).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Spending Score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from your cell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['Spending Score (1-100)'], bins=20,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=True).</a:t>
            </a:r>
          </a:p>
          <a:p>
            <a:pPr lvl="1"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Annual income is roughly normal; spending score shows two peaks (low and high), suggesting natural groupings.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CEED0A-75BD-7B41-1C80-AF97E2AA5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441" y="1967368"/>
            <a:ext cx="6494210" cy="457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39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6296D-28B4-CD54-F546-A690B3850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E232-3157-87AF-91CF-9B4B3294F9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563C7-2A8C-4C3F-5CC1-BF6EDD57C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5DE01-B7A9-B8CB-8CD8-20BA1F1E317A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10D4CFFA-0E50-5B9C-FE9D-E3EE3CB4E5E6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DC4A9E97-FBB6-D77F-BB91-B7EA079E3FCF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E48D2438-F5A7-8EF1-CFA6-69580805C1E3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537B4FD5-DBC5-7767-3E4F-3AF69CEA636D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2FB6CB-7B94-C4C2-9DBD-D5E90E2A1009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69B1E1CB-929D-B29B-52F6-0AB826056A03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6DDC9A-494F-5B80-404A-DED3442D8993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76AEA5-13B2-850D-9837-BD19E5F901D7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9E375A-6E72-D89E-0226-7494D649D47D}"/>
              </a:ext>
            </a:extLst>
          </p:cNvPr>
          <p:cNvSpPr txBox="1"/>
          <p:nvPr/>
        </p:nvSpPr>
        <p:spPr>
          <a:xfrm>
            <a:off x="417870" y="1323977"/>
            <a:ext cx="10028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7: Feature Selection &amp; Preprocessing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50751-CCE9-84C7-657F-3201C3037C74}"/>
              </a:ext>
            </a:extLst>
          </p:cNvPr>
          <p:cNvSpPr txBox="1"/>
          <p:nvPr/>
        </p:nvSpPr>
        <p:spPr>
          <a:xfrm>
            <a:off x="471948" y="1922734"/>
            <a:ext cx="1163156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Income (k$)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Spending Score (1‑100)</a:t>
            </a:r>
          </a:p>
          <a:p>
            <a:pPr lvl="2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These two directly capture spending power and behavior.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standardize features (mean=0, std=1).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because K‑Means is distance‑based; scaling ensures equal contribution.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(Optional) Code snippet showing scaling: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1" latinLnBrk="1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scaler =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latinLnBrk="1"/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X_scaled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scaler.fit_transform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</a:p>
          <a:p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3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86758-816E-F247-CA88-1EFC96B3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0274-3659-B6A4-F48E-B1882D9D9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80EFE-42E9-503A-DE22-B71F2C1B2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6FA6DA-DAA6-F3F5-82BA-08FCC63FB0E5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0F2027F0-8A9D-33AB-01E2-E4CE2E832C72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BDCD6DCC-78DE-275A-8F32-C07B4CF70485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A9B87B1C-853F-B164-391E-AE4E7DCC13B7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95BB9464-F412-8503-84CB-967D45CD7345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D14836-25CF-C687-714A-B8D76E3C7FEB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05FE01D1-CE9A-9F15-C667-F1F07F7A8342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47110A-36DC-28C7-0FE8-D9C9F06CAE86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D92ECD-154B-2DFD-158A-319CC0643F97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583248-28C6-4B4A-4C7B-B3C82F361C84}"/>
              </a:ext>
            </a:extLst>
          </p:cNvPr>
          <p:cNvSpPr txBox="1"/>
          <p:nvPr/>
        </p:nvSpPr>
        <p:spPr>
          <a:xfrm>
            <a:off x="417870" y="1210140"/>
            <a:ext cx="113562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8: Determining Optimal Number of Clusters Elbow Method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3876E-A89F-A718-76C6-6B121C745DF9}"/>
              </a:ext>
            </a:extLst>
          </p:cNvPr>
          <p:cNvSpPr txBox="1"/>
          <p:nvPr/>
        </p:nvSpPr>
        <p:spPr>
          <a:xfrm>
            <a:off x="412955" y="2433333"/>
            <a:ext cx="44884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Elbow Method: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Plot of Within‑Cluster Sum of Squares (WCSS) vs. number of clusters (k).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"elbow" point indicates the optimal k.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Elbow plot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from your cell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(range(1, 11),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wcss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marker='o').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elbow is visible at k=5.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7B3B45-41E2-70AD-6C25-CB64DD792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812" y="1802780"/>
            <a:ext cx="5362375" cy="44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54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8558-827B-1763-5688-8D5CF77E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F57D-C674-D940-40BE-FC5EA7F27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E5275-E3EC-C9A1-228E-2504B1811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C6E1A8-DD99-743A-3FFE-0DFFEE0AFDEC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C15FC3CE-71E7-0A81-0C97-22106B4D754B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BE6ECE5B-2383-F3B2-52A1-94A1FA694280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D380EF82-3A4A-68B0-9B53-EC9C1320C7E5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4723069F-9F5D-59DB-02D4-945BC32E051E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CCDE1B-A3C8-9A88-8541-738CB9934F30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06AADF02-23E3-DAB7-DCE2-894B4C74AAB5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DE01B1-4B55-E81D-93BE-BCF912438ED0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B5CE10-7070-1F5B-415E-8549CEDE2941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815271-603D-7AC2-E96C-E503FDE9AF78}"/>
              </a:ext>
            </a:extLst>
          </p:cNvPr>
          <p:cNvSpPr txBox="1"/>
          <p:nvPr/>
        </p:nvSpPr>
        <p:spPr>
          <a:xfrm>
            <a:off x="164692" y="1377884"/>
            <a:ext cx="119511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9: Determining Optimal Number of Cluster Silhouette Score</a:t>
            </a:r>
          </a:p>
          <a:p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DD6280-E8D3-012E-62A4-2E2030BE5A69}"/>
              </a:ext>
            </a:extLst>
          </p:cNvPr>
          <p:cNvSpPr txBox="1"/>
          <p:nvPr/>
        </p:nvSpPr>
        <p:spPr>
          <a:xfrm>
            <a:off x="417870" y="2316163"/>
            <a:ext cx="47317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Measures how similar a point is to its own cluster compared to others. Higher score = better.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highest silhouette score is also at k=5.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Silhouette plot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from your cell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(range(2, 11),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sil_scores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marker='o').</a:t>
            </a:r>
          </a:p>
          <a:p>
            <a:pPr lvl="1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Confirms k=5 as the optimal choice.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AE3019-706D-6429-54AD-70A2F4037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821" y="2027569"/>
            <a:ext cx="6600760" cy="440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2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4991-835B-339E-67D1-A69D29A3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6F8-F033-AF98-45DD-83FD35563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AAFE0-B6D3-8AD5-0671-DF1B5A081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73CEF-21FE-7EAF-E1E1-FF31FA078985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A5BF8336-6AEB-D756-B814-894E4CE059B6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AB89A33A-CD4B-187D-0C81-35837E36F849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B7D4F908-134B-FDCA-CE69-9605BBDDFBCC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52377BEB-4C89-EDF3-FD3E-35E24A57BF5B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6B2C92-ED34-DE39-A58E-EEBA6AE417E3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EB418F05-C34C-C230-900E-59EF11484BCC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A417F1-F188-37F5-2191-5AFAFCA190C7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C43123-3C0E-87F4-42DB-D39FE42F116F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4DECFB-992A-2854-EFEA-9311A5513B49}"/>
              </a:ext>
            </a:extLst>
          </p:cNvPr>
          <p:cNvSpPr txBox="1"/>
          <p:nvPr/>
        </p:nvSpPr>
        <p:spPr>
          <a:xfrm rot="10800000" flipH="1" flipV="1">
            <a:off x="489530" y="1332095"/>
            <a:ext cx="8054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10.Applying K-Means with k=5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454B2-F23C-098C-9270-2A7584423A09}"/>
              </a:ext>
            </a:extLst>
          </p:cNvPr>
          <p:cNvSpPr txBox="1"/>
          <p:nvPr/>
        </p:nvSpPr>
        <p:spPr>
          <a:xfrm>
            <a:off x="101155" y="2476239"/>
            <a:ext cx="63832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K‑Means algorithm with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n_clusters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=5,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='k-means++',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=42.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customer assigned to one of the five clusters.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scatter plot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(original scale) with points colored by cluster – from your cell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['Annual Income (k$)'],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['Spending Score (1-100)'], c=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['Cluster'],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viridis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algn="just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DE2B70-ADFF-7396-0131-67344FB19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57" y="1846859"/>
            <a:ext cx="5070004" cy="470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6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90727-A0E5-B32C-12A2-4A40B9F0B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0AF8-C0F8-E258-6651-F18BC1C40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B40B70-3367-ADDE-2838-75D7A4A55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FBF61D-3492-3322-5C85-2BB2C563C924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AE8171A5-5076-8FD7-5ECA-7188A78BD96B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7EA38BCD-2188-9EAA-6CA6-E84CE8678911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905610DB-47DE-DCE4-7896-E8C9C43467E8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AACDABEB-B406-90A2-A924-0C099CE23752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5AF380-2522-BE18-0E74-96C09A994BA0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9420FA7A-6F3E-45A8-414B-A416C8B90F8E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A0BEC6-2B4C-782F-BD23-A0A0CEBDCAE5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3952A0-8D63-DBDD-15D1-210C9D368F9A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1196FE-25DF-2AF9-1CC9-0A761A0A8F15}"/>
              </a:ext>
            </a:extLst>
          </p:cNvPr>
          <p:cNvSpPr txBox="1"/>
          <p:nvPr/>
        </p:nvSpPr>
        <p:spPr>
          <a:xfrm>
            <a:off x="191728" y="1377884"/>
            <a:ext cx="10746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10: Cluster Characteristics (Profiling)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1AF6A2-9931-1A54-D7E1-9C4503DC2389}"/>
              </a:ext>
            </a:extLst>
          </p:cNvPr>
          <p:cNvSpPr txBox="1"/>
          <p:nvPr/>
        </p:nvSpPr>
        <p:spPr>
          <a:xfrm>
            <a:off x="324465" y="1696082"/>
            <a:ext cx="105205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Grouped by cluster to compute average income, spending score, age, and majority gender.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from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cluster_summary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(screenshot or formatted table):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249F32F-D2E9-C221-10BE-C64A97AE2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984307"/>
              </p:ext>
            </p:extLst>
          </p:nvPr>
        </p:nvGraphicFramePr>
        <p:xfrm>
          <a:off x="545691" y="3109552"/>
          <a:ext cx="10515601" cy="3568700"/>
        </p:xfrm>
        <a:graphic>
          <a:graphicData uri="http://schemas.openxmlformats.org/drawingml/2006/table">
            <a:tbl>
              <a:tblPr/>
              <a:tblGrid>
                <a:gridCol w="1584081">
                  <a:extLst>
                    <a:ext uri="{9D8B030D-6E8A-4147-A177-3AD203B41FA5}">
                      <a16:colId xmlns:a16="http://schemas.microsoft.com/office/drawing/2014/main" val="1280664751"/>
                    </a:ext>
                  </a:extLst>
                </a:gridCol>
                <a:gridCol w="1786304">
                  <a:extLst>
                    <a:ext uri="{9D8B030D-6E8A-4147-A177-3AD203B41FA5}">
                      <a16:colId xmlns:a16="http://schemas.microsoft.com/office/drawing/2014/main" val="2415864111"/>
                    </a:ext>
                  </a:extLst>
                </a:gridCol>
                <a:gridCol w="1786304">
                  <a:extLst>
                    <a:ext uri="{9D8B030D-6E8A-4147-A177-3AD203B41FA5}">
                      <a16:colId xmlns:a16="http://schemas.microsoft.com/office/drawing/2014/main" val="2167597065"/>
                    </a:ext>
                  </a:extLst>
                </a:gridCol>
                <a:gridCol w="1786304">
                  <a:extLst>
                    <a:ext uri="{9D8B030D-6E8A-4147-A177-3AD203B41FA5}">
                      <a16:colId xmlns:a16="http://schemas.microsoft.com/office/drawing/2014/main" val="2555135715"/>
                    </a:ext>
                  </a:extLst>
                </a:gridCol>
                <a:gridCol w="1786304">
                  <a:extLst>
                    <a:ext uri="{9D8B030D-6E8A-4147-A177-3AD203B41FA5}">
                      <a16:colId xmlns:a16="http://schemas.microsoft.com/office/drawing/2014/main" val="2747980916"/>
                    </a:ext>
                  </a:extLst>
                </a:gridCol>
                <a:gridCol w="1786304">
                  <a:extLst>
                    <a:ext uri="{9D8B030D-6E8A-4147-A177-3AD203B41FA5}">
                      <a16:colId xmlns:a16="http://schemas.microsoft.com/office/drawing/2014/main" val="194948146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Income (k$)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Spending Score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Age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Majority Gender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 Name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12637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86.8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19.2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42.5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Careful Spenders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0646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60.2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Customers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34568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43.9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Economy Shoppers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09138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39.0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79.0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25.5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Impulsive Buyers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5229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87.6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81.8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32.4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 Customers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811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425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F506-1697-6230-C58C-EC99C619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5EB0-AB60-4AE6-5A56-C293BAC7D1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71F4F-E275-4766-7641-D3D439C42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8B5413-3DC0-4847-25EF-144B60D00311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18F7E518-B96C-9713-93E7-21D462BDE7C1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3894074F-B6B4-1E25-64E7-D046CB2B24FD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90458616-C8A8-091A-40BC-4FA821D47664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20C4B3F6-9D7E-EC43-AFA0-4A0961570A24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C45CDB-524B-5EB3-732D-7800DCE18A1F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5E03B28A-CB64-46DF-C834-7339A9ED06C4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38996E-813B-55BE-76CE-F15936BF7D18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3CA551-CADB-81F1-57DE-7202258AC87C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052548-542D-5F0A-FDC3-E235B6AEC52C}"/>
              </a:ext>
            </a:extLst>
          </p:cNvPr>
          <p:cNvSpPr txBox="1"/>
          <p:nvPr/>
        </p:nvSpPr>
        <p:spPr>
          <a:xfrm>
            <a:off x="417870" y="1339959"/>
            <a:ext cx="9930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11: Visualizing Cluster Profiles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4790E7-1542-0AD3-EB7C-66D554874272}"/>
              </a:ext>
            </a:extLst>
          </p:cNvPr>
          <p:cNvSpPr txBox="1"/>
          <p:nvPr/>
        </p:nvSpPr>
        <p:spPr>
          <a:xfrm>
            <a:off x="717755" y="2123768"/>
            <a:ext cx="108744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average values across clusters to understand differences.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(three bar charts arranged side‑by‑side):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Annual Income by Cluster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from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Spending Score by Cluster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from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Age by Cluster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from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Premium customers have high income and high spending; impulsive buyers are young with low income but high spending.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983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B4F4-826B-5EF3-7055-7D08B64E8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2883-C98E-FA0C-9A85-B8423FC5C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7C5F5-B273-852E-49E0-5F8E2E2CB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E536D-3626-16EB-846E-EC23B6F7C48E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DF6280E-2FA4-92DA-5ACA-5FFBB326E045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F807AD9E-BD5F-1F06-107F-3C1CFE58C2B8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D4A74DA1-55CD-1A2F-4A4E-95515C56A1C3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505060FF-CEBC-DADE-D889-2D385AE310C1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D56527-B8AD-9DAB-F1A9-03AB18BC4CCC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70A88EC4-A8DA-D579-FEA5-BB800FBA5698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84E430-C3E7-9331-D07B-55838221E9C6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D323FF-8593-E1BD-2528-F06F593313ED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764196A-1012-89C3-88C4-08D02B874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32" y="1967368"/>
            <a:ext cx="11105534" cy="402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0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B351-6E16-0050-DC80-197F9EF7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820-A388-9A4A-FDA2-8C308F222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220B5-9B19-9A4C-5077-D23BEEE6E1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7A63B-CF7A-8941-C3EA-AE0940657CE2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F6CA6D6E-FCAB-8CE3-ABA4-9063298C58E5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C0E5147E-015B-3592-4511-DD7192E06B7C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2AAC56FA-9848-86B3-3019-67B918E54F53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FB6839C-FBC2-94F4-7271-E78CA1CB222C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62579C-8A4E-DB92-AE4A-FBC8FD051B4F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A05E19D2-AB08-0E5D-5AB5-5D0DE6A6817E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9FF92C-E6DC-CBDE-098B-8D3F4279D947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1CEA41-537A-8496-0936-6CB2C6172A77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DD0FFD8-7C6A-09AC-9FBB-9D86F171CDCD}"/>
              </a:ext>
            </a:extLst>
          </p:cNvPr>
          <p:cNvSpPr txBox="1"/>
          <p:nvPr/>
        </p:nvSpPr>
        <p:spPr>
          <a:xfrm>
            <a:off x="417870" y="1415845"/>
            <a:ext cx="10623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12: Business Insights &amp; Recommendations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D8DA1-59E3-58F2-163A-C2B9A770676B}"/>
              </a:ext>
            </a:extLst>
          </p:cNvPr>
          <p:cNvSpPr txBox="1"/>
          <p:nvPr/>
        </p:nvSpPr>
        <p:spPr>
          <a:xfrm>
            <a:off x="-4" y="2190805"/>
            <a:ext cx="11774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 Customers (Cluster 4):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High income, high spending → VIP programs, exclusive offers.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Careful Spenders (Cluster 0):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High income, low spending → value deals, bulk discounts.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Impulsive Buyers (Cluster 3):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Low income, high spending → “buy now, pay later”, flash sales.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Customers (Cluster 1):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Moderate → bundle deals, upselling.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Economy Shoppers (Cluster 2):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Low income, low spending → essential products, price guarantees.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697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8D35-E83F-3D48-16B0-0C373C29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D5A6-1418-2021-862C-85B2B785D3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424FE-CF10-4164-49AD-9C46EECFD1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C8D4A8-9279-2193-9C14-06E0D4074FE4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B9AE34A3-C99F-9C93-0A57-AB6D0920688F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4CE30AAE-D811-7532-D453-5857BCB7E355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37473686-277A-A4D9-4E2C-55536EC88245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A056262A-34F1-B042-6D3B-B2DCF63D388E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3E5B7F-2CC7-B9FB-993A-97D585B095C3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16EE409-6E9A-9523-5FB9-7B9E5D66A8E3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48D7BB-41B6-2505-DF5F-EC974C629496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C93646-27A4-059A-5252-A441380A70B5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67C176-82D0-8EA1-0F29-E8E8D3B0B9FD}"/>
              </a:ext>
            </a:extLst>
          </p:cNvPr>
          <p:cNvSpPr txBox="1"/>
          <p:nvPr/>
        </p:nvSpPr>
        <p:spPr>
          <a:xfrm>
            <a:off x="580103" y="146500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13: Conclusion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667E2A-BE3D-D05D-43CB-CCBE24705F1D}"/>
              </a:ext>
            </a:extLst>
          </p:cNvPr>
          <p:cNvSpPr txBox="1"/>
          <p:nvPr/>
        </p:nvSpPr>
        <p:spPr>
          <a:xfrm>
            <a:off x="417870" y="2303823"/>
            <a:ext cx="97241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segmented customers into five meaningful groups using K‑Means.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Clusters reveal clear behavioral patterns based on income and spending score.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insights for targeted marketing.</a:t>
            </a:r>
          </a:p>
          <a:p>
            <a:pPr lvl="1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value of unsupervised learning in business analytics.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717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5BB9B-A66C-B53C-AFFD-292DACED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05C7-4253-E94F-8692-A380485336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3A7BE-9A03-FCCE-39DD-042877138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6FA6C7-B234-F9A8-8BC8-217895E37F35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8FA0BE4-7923-7D66-4239-065B9B7DA8D0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758F6C3A-66F4-C462-7464-FC96D7114B67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F3A57B11-97BE-9738-D8B6-727BD9D5C039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BB19161E-B55A-E103-5C36-5F282E0BBC71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05F848-D3E7-76FD-321E-2F633B159514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5D4F19C9-5727-5B88-41B5-C76E19090E85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135E54-84AB-2E60-B669-5C15D073E378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838401-5287-5F2E-F79B-7D3713510387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97304C-E27B-C5DC-423F-82CE38A4887A}"/>
              </a:ext>
            </a:extLst>
          </p:cNvPr>
          <p:cNvSpPr txBox="1"/>
          <p:nvPr/>
        </p:nvSpPr>
        <p:spPr>
          <a:xfrm>
            <a:off x="894735" y="1543665"/>
            <a:ext cx="7836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14: Future 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8C4080-BC29-0F77-5B3F-B794B907A3B2}"/>
              </a:ext>
            </a:extLst>
          </p:cNvPr>
          <p:cNvSpPr txBox="1"/>
          <p:nvPr/>
        </p:nvSpPr>
        <p:spPr>
          <a:xfrm>
            <a:off x="781666" y="2190805"/>
            <a:ext cx="1045169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additional features (Age, Gender) for finer segmentation.</a:t>
            </a: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other clustering algorithms (DBSCAN, Hierarchical).</a:t>
            </a: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PCA for dimensionality reduction if more features are added.</a:t>
            </a:r>
          </a:p>
          <a:p>
            <a:pPr lvl="1"/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 segment assignment for new customers.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14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AF81-870E-7D9D-8B2A-2DEBC15B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D6B8-2500-59FF-6EEB-4E8B24041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25280-4748-AE5B-CA29-D07517A06F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F6703-6E02-1B42-1C48-DCC6B2309E00}"/>
              </a:ext>
            </a:extLst>
          </p:cNvPr>
          <p:cNvSpPr/>
          <p:nvPr/>
        </p:nvSpPr>
        <p:spPr>
          <a:xfrm>
            <a:off x="1" y="-3379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5CF4295D-BEA5-0F85-CF82-ACD866CB1B8F}"/>
              </a:ext>
            </a:extLst>
          </p:cNvPr>
          <p:cNvSpPr/>
          <p:nvPr/>
        </p:nvSpPr>
        <p:spPr>
          <a:xfrm>
            <a:off x="1" y="-3379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16CC3655-72AD-669D-C9CD-A9B3594F8FE0}"/>
              </a:ext>
            </a:extLst>
          </p:cNvPr>
          <p:cNvSpPr/>
          <p:nvPr/>
        </p:nvSpPr>
        <p:spPr>
          <a:xfrm rot="10800000">
            <a:off x="6007511" y="3523945"/>
            <a:ext cx="6184490" cy="3330677"/>
          </a:xfrm>
          <a:prstGeom prst="halfFrame">
            <a:avLst>
              <a:gd name="adj1" fmla="val 3518"/>
              <a:gd name="adj2" fmla="val 440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DC1B6FC2-4145-97A6-E6DE-84685B5B66B5}"/>
              </a:ext>
            </a:extLst>
          </p:cNvPr>
          <p:cNvSpPr/>
          <p:nvPr/>
        </p:nvSpPr>
        <p:spPr>
          <a:xfrm rot="5400000">
            <a:off x="7431345" y="-1243472"/>
            <a:ext cx="3513804" cy="600751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CFF68387-FEA2-C3BD-9391-FAB3E29CA954}"/>
              </a:ext>
            </a:extLst>
          </p:cNvPr>
          <p:cNvSpPr/>
          <p:nvPr/>
        </p:nvSpPr>
        <p:spPr>
          <a:xfrm rot="16200000">
            <a:off x="1291096" y="2056477"/>
            <a:ext cx="3513804" cy="6096001"/>
          </a:xfrm>
          <a:prstGeom prst="halfFrame">
            <a:avLst>
              <a:gd name="adj1" fmla="val 4695"/>
              <a:gd name="adj2" fmla="val 336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A0CF92-8329-ABAA-31C2-02C9E44ABDF2}"/>
              </a:ext>
            </a:extLst>
          </p:cNvPr>
          <p:cNvSpPr/>
          <p:nvPr/>
        </p:nvSpPr>
        <p:spPr>
          <a:xfrm>
            <a:off x="240892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B4FD0DDC-1413-DF9D-4243-3824D5D0A7DD}"/>
              </a:ext>
            </a:extLst>
          </p:cNvPr>
          <p:cNvSpPr txBox="1"/>
          <p:nvPr/>
        </p:nvSpPr>
        <p:spPr>
          <a:xfrm>
            <a:off x="1474841" y="306167"/>
            <a:ext cx="99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DATA ANALYTICS INTERSHIPS BY INTERN INFOBYTE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B62F35-BFC6-54B0-2931-B1FAB226428C}"/>
              </a:ext>
            </a:extLst>
          </p:cNvPr>
          <p:cNvSpPr/>
          <p:nvPr/>
        </p:nvSpPr>
        <p:spPr>
          <a:xfrm>
            <a:off x="10724350" y="212932"/>
            <a:ext cx="1189703" cy="85540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B38938-9899-BD19-8644-0923B672E5CA}"/>
              </a:ext>
            </a:extLst>
          </p:cNvPr>
          <p:cNvCxnSpPr/>
          <p:nvPr/>
        </p:nvCxnSpPr>
        <p:spPr>
          <a:xfrm>
            <a:off x="417870" y="1196157"/>
            <a:ext cx="1135625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A032E02-6677-9A9B-FE83-D4C69E191370}"/>
              </a:ext>
            </a:extLst>
          </p:cNvPr>
          <p:cNvSpPr/>
          <p:nvPr/>
        </p:nvSpPr>
        <p:spPr>
          <a:xfrm>
            <a:off x="1569878" y="2588506"/>
            <a:ext cx="927510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04407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1073</Words>
  <Application>Microsoft Office PowerPoint</Application>
  <PresentationFormat>Widescreen</PresentationFormat>
  <Paragraphs>185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kumar</dc:creator>
  <cp:lastModifiedBy>karan kumar</cp:lastModifiedBy>
  <cp:revision>3</cp:revision>
  <dcterms:created xsi:type="dcterms:W3CDTF">2026-03-25T17:35:06Z</dcterms:created>
  <dcterms:modified xsi:type="dcterms:W3CDTF">2026-03-27T07:35:01Z</dcterms:modified>
</cp:coreProperties>
</file>